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Arial"/>
              </a:rPr>
              <a:t>Top Products by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B5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BDEF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Men's Street
Footwear</c:v>
                  </c:pt>
                  <c:pt idx="1">
                    <c:v>Women's
Apparel</c:v>
                  </c:pt>
                  <c:pt idx="2">
                    <c:v>Men's Athletic
Footwear</c:v>
                  </c:pt>
                  <c:pt idx="3">
                    <c:v>Women's Street
Footwear</c:v>
                  </c:pt>
                  <c:pt idx="4">
                    <c:v>Men's
Apparel</c:v>
                  </c:pt>
                  <c:pt idx="5">
                    <c:v>Women's Athletic
Footwear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208820244</c:v>
                </c:pt>
                <c:pt idx="1">
                  <c:v>179139660</c:v>
                </c:pt>
                <c:pt idx="2">
                  <c:v>153173680</c:v>
                </c:pt>
                <c:pt idx="3">
                  <c:v>128062312</c:v>
                </c:pt>
                <c:pt idx="4">
                  <c:v>123728620</c:v>
                </c:pt>
                <c:pt idx="5">
                  <c:v>106821806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Summer</c:v>
                  </c:pt>
                  <c:pt idx="1">
                    <c:v>Spring</c:v>
                  </c:pt>
                  <c:pt idx="2">
                    <c:v>Winter</c:v>
                  </c:pt>
                  <c:pt idx="3">
                    <c:v>Fall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295000000</c:v>
                </c:pt>
                <c:pt idx="1">
                  <c:v>265000000</c:v>
                </c:pt>
                <c:pt idx="2">
                  <c:v>240000000</c:v>
                </c:pt>
                <c:pt idx="3">
                  <c:v>200000000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Arial"/>
              </a:rPr>
              <a:t>Avg Sales per Transaction by Retailer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per Transaction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Walmart</c:v>
                  </c:pt>
                  <c:pt idx="1">
                    <c:v>Sports Direct</c:v>
                  </c:pt>
                  <c:pt idx="2">
                    <c:v>Foot Locker</c:v>
                  </c:pt>
                  <c:pt idx="3">
                    <c:v>Kohl's</c:v>
                  </c:pt>
                  <c:pt idx="4">
                    <c:v>Amazon</c:v>
                  </c:pt>
                  <c:pt idx="5">
                    <c:v>West Gear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430</c:v>
                </c:pt>
                <c:pt idx="1">
                  <c:v>410</c:v>
                </c:pt>
                <c:pt idx="2">
                  <c:v>395</c:v>
                </c:pt>
                <c:pt idx="3">
                  <c:v>370</c:v>
                </c:pt>
                <c:pt idx="4">
                  <c:v>350</c:v>
                </c:pt>
                <c:pt idx="5">
                  <c:v>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Arial"/>
              </a:rPr>
              <a:t>Total Sales by Region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B5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West</c:v>
                  </c:pt>
                  <c:pt idx="1">
                    <c:v>Northeast</c:v>
                  </c:pt>
                  <c:pt idx="2">
                    <c:v>South</c:v>
                  </c:pt>
                  <c:pt idx="3">
                    <c:v>Southeast</c:v>
                  </c:pt>
                  <c:pt idx="4">
                    <c:v>Midwest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263843182</c:v>
                </c:pt>
                <c:pt idx="1">
                  <c:v>220094728</c:v>
                </c:pt>
                <c:pt idx="2">
                  <c:v>184665383</c:v>
                </c:pt>
                <c:pt idx="3">
                  <c:v>173172236</c:v>
                </c:pt>
                <c:pt idx="4">
                  <c:v>58126596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73152" cy="51435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457200"/>
            <a:ext cx="256032" cy="4206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457200"/>
            <a:ext cx="256032" cy="4206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457200"/>
            <a:ext cx="256032" cy="4206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0" y="2011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SALES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Making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analysis of Adidas US retail performance across regions, products, retailers, and sales channels — powered by SQL and Tableau.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924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33832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33924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3924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Analytics Team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Definition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business context and analytical 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4300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43000"/>
            <a:ext cx="28346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58191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retail data spanning 2020–2021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50 states, 52 cities, and 5 major regions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6 retailers and 3 sales channels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product categories analyzed across all geographies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43000"/>
            <a:ext cx="283464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58191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products, regions, and retailers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profitability gaps and margin inefficiencies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trends over time (monthly, quarterly, seasonal)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channel strategy: Online vs. In-Store vs. Outlet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14300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43000"/>
            <a:ext cx="2834640" cy="3474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581912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smarter inventory and pricing decisions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regional strategies with actual performance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underperforming assets before they erode margins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data-backed stakeholder presentations &amp; planning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Preparation Challenges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 and resolved before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8872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88720"/>
            <a:ext cx="429768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88720"/>
            <a:ext cx="64008" cy="16459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298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Data Types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1645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Price Per Unit, and Operating Margin were stored as non-numeric types — required ALTER COLUMN to FLOAT for calculations.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118872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188720"/>
            <a:ext cx="4297680" cy="6400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90872" y="1188720"/>
            <a:ext cx="64008" cy="1645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1298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Computed Column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55464" y="1645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(Units Sold × Price Per Unit) did not exist — added as a calculated column via ALTER TABLE to enable all aggregations.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17520"/>
            <a:ext cx="4297680" cy="640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017520"/>
            <a:ext cx="64008" cy="1645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Encoding (ANSI)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required ANSI encoding specification (Adidas_Sales_ANSI) to ensure correct character handling across 52 cities.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90872" y="301752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3017520"/>
            <a:ext cx="4297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3017520"/>
            <a:ext cx="64008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Margin Format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stored as a ratio — all profit calculations required explicit multiplication by Total_Sales to yield correct profit figures.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— Sales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regional breakdown, and peak periods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7043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16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09344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leads all product categories in total sales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Apparel and Men's Athletic Footwear rank 2nd and 3rd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Street Footwear and Men's Apparel complete the top 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72491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24912"/>
            <a:ext cx="420624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706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Leaders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generates the highest total sales across all periods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region records the lowest overall sales performance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contributes the largest share of total national revenue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170432"/>
            <a:ext cx="4251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graphicFrame>
        <p:nvGraphicFramePr>
          <p:cNvPr id="18" name="Chart 0" descr=""/>
          <p:cNvGraphicFramePr/>
          <p:nvPr/>
        </p:nvGraphicFramePr>
        <p:xfrm>
          <a:off x="4663440" y="1170432"/>
          <a:ext cx="4251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— Time-Based &amp; Seasonal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quarterly, and seasonal demand patterns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430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4300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6550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8470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annual revenue achieved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11430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1143000"/>
            <a:ext cx="64008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16550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18470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top monthly performer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1430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143000"/>
            <a:ext cx="64008" cy="96012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16550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Season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8470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Jun–Aug drives strongest demand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1430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143000"/>
            <a:ext cx="64008" cy="9601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+598%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16550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MoM Growth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8470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vs Dec 2020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286000"/>
            <a:ext cx="4251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286000"/>
            <a:ext cx="4251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Trends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272491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(Jul–Sep) ranks as the highest revenue quarter overall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shows the lowest performance, rebounding sharply in Q2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recovery driven by holiday season foot traffic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286000"/>
            <a:ext cx="4251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286000"/>
            <a:ext cx="42519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272491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2021: explosive +598% MoM growth (post-COVID recovery)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2020: steepest decline at –49.9% (lockdown impact)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normalizes from mid-2021 onward with steady trend</a:t>
            </a:r>
            <a:endParaRPr lang="en-US" sz="105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228600" y="3749040"/>
          <a:ext cx="868680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— Profitability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margins, profit leaders, and high-revenue low-margin products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7043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16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Profit Generators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09344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also leads in operating profit — high-volume + strong margin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Apparel ranks 2nd in profit, consistent with its revenue rank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sales do NOT always equal high profit — category mix matters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72491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24912"/>
            <a:ext cx="420624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706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Efficiency by Region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achieves the best average operating margin nationally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and Southeast show weaker average margin despite decent revenue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pricing strategy and channel mix drive margin variation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170432"/>
            <a:ext cx="4251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16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Profitability by Product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4069080" cy="2423160"/>
        </p:xfrm>
        <a:graphic>
          <a:graphicData uri="http://schemas.openxmlformats.org/drawingml/2006/table">
            <a:tbl>
              <a:tblPr/>
              <a:tblGrid>
                <a:gridCol w="2560320"/>
                <a:gridCol w="758952"/>
                <a:gridCol w="749808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Street 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Apparel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Athletic 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Street 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Apparel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Athletic 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28600" y="4251960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4251960"/>
            <a:ext cx="8686800" cy="3474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29768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4690872"/>
            <a:ext cx="8458200" cy="-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rank perfectly mirrors profit rank — product mix is balanced; West region should be prioritized for premium product launches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— Product &amp; Customer Behavior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channel performance, and regional product preferences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70432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6400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93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Units Sold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product category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170432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70432"/>
            <a:ext cx="6400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2893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Channel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874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highest total revenue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170432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170432"/>
            <a:ext cx="64008" cy="9144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2893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Products Each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 / Retailer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874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variety gap between retailers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2860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286000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331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 per Region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272491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Men's Street Footwear dominates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South: Women's Apparel is the regional leader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&amp; Southeast: Men's Athletic Footwear leads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Midwest: Men's Street Footwear tops revenue charts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286000"/>
            <a:ext cx="42519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Performance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272491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 generates the highest total revenue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comes second — physical retail remains strong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performs lowest but serves clearance &amp; volume needs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presence is key to Adidas' revenue resilience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374904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749040"/>
            <a:ext cx="868680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9476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Product Dependency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187952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is not region-dependent — it leads in ALL 5 regions, confirming it as Adidas' flagship product. Women's Apparel shows strong performance in southern markets, suggesting regional lifestyle preferences drive apparel demand.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— Retailer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value, variety, and regional ranking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228600" y="1170432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983480" y="1170432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170432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216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— Top Performer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20640" y="1609344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sales per transaction of all retailers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national reach drives volume and value simultaneously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83480" y="2578608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83480" y="2578608"/>
            <a:ext cx="393192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2624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Variety Finding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20640" y="301752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retailers carry exactly the same 6 product categories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differentiation in product assortment across retail partners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exclusive product lines to drive retailer preference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4005072"/>
            <a:ext cx="8686800" cy="3474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050792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Underperformers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4443984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has one retailer consistently ranked last in sales within that region. Identifying and supporting these underperformers with targeted promotions or exclusive SKUs could unlock significant incremental revenue.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1 — Product Sales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product revenue, regional breakdown, retailer share &amp; sales method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5029200" cy="3566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0" y="1097280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1097280"/>
            <a:ext cx="64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12161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$899,902,125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23560" y="16093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(Revenue)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18013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 across all channels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1993392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1993392"/>
            <a:ext cx="64008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211226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2,478,861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623560" y="25054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26974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SKUs, all regions combined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0" y="2889504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0" y="2889504"/>
            <a:ext cx="342900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23560" y="2935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23560" y="3328416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Footwear: $208M — far exceeds other categories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leads retailer sales; Kohl's and Amazon follow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($263M) outperforms all other 4 regions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 dominates total revenue vs. Outlet &amp; In-Store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2 — Unit Sold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by product, retailer, region, and city-level operating profit details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5029200" cy="3566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0" y="1097280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1097280"/>
            <a:ext cx="64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12161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2,478,861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23560" y="16093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18013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city filter available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1993392"/>
            <a:ext cx="3429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1993392"/>
            <a:ext cx="342900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23560" y="2432304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Footwear: highest unit volume across all products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Apparel and Men's Athletic Footwear rank 2nd and 3rd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retailer leads unit sold among all retail partners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detail: Atlanta ($6.8M profit, 263 avg units/city)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(606K units) leads; Midwest (301K) is lowest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balanced unit distribution across 5 regions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— Sales &amp; Product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revenue drivers and product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70432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64008" cy="9326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93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$899.9M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2020–2021 combined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41448" y="1170432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170432"/>
            <a:ext cx="64008" cy="9326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2893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78608" y="16824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8608" y="1874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 &amp; regions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54296" y="1170432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1170432"/>
            <a:ext cx="64008" cy="93268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2893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Product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91456" y="16824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91456" y="1874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 revenue &amp; profit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67144" y="1170432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67144" y="1170432"/>
            <a:ext cx="64008" cy="9326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12893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04304" y="16824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Channel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04304" y="1874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sales method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286000"/>
            <a:ext cx="4251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286000"/>
            <a:ext cx="4251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2724912"/>
            <a:ext cx="4023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outperforms every category in both revenue and units sold — it is the undisputed hero product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Apparel is the strongest growth candidate — ranks 2nd in both revenue and profit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products maintain proportional revenue-to-profit ratios — no category is structurally inefficient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is well-balanced; focus should shift to channel optimization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286000"/>
            <a:ext cx="4251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286000"/>
            <a:ext cx="42519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Timing Intelligence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2724912"/>
            <a:ext cx="4023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 generates the most revenue — digital-first strategy is working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(Jun–Aug) consistently drives peak demand — ideal window for launches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is the strongest quarter — align inventory and marketing accordingly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recorded peak annual revenue — post-COVID recovery drove explosive growth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2021 saw +598% MoM surge — single biggest growth event in dataset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— Regional &amp; Retailer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revenue patterns and partner contribution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228600" y="1170432"/>
          <a:ext cx="4663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228600" y="374904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3749040"/>
            <a:ext cx="46634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7947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Insight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41879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with $263M — 3× more than Midwest's $58M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revenue imbalance across regions — untapped potential in Midwest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74920" y="1170432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74920" y="1170432"/>
            <a:ext cx="384048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1216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Champions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12080" y="1609344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has the highest average sales per transaction nationally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leads in total units sold and total revenue contribution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Direct ranks among the top 3 contributors to total profit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74920" y="2606040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74920" y="2606040"/>
            <a:ext cx="3840480" cy="34747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2651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Risk Signals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12080" y="304495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retailers carry identical product variety — zero differentiation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Lowest-ranked retailer in each region drags regional averages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lower avg transaction signals price compression online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74920" y="402336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74920" y="4023360"/>
            <a:ext cx="384048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2080" y="4069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Intelligence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12080" y="4462272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leads in operating profit per city; high avg units per transaction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to maximize revenue, profit, and market share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70432"/>
            <a:ext cx="4279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59436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151790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1832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Men's Street Footwear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1554480"/>
            <a:ext cx="3474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limited editions and premium tiers for the #1 revenue and profit driver. Allocate highest marketing budget to this category ahead of Q3.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170432"/>
            <a:ext cx="4279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170432"/>
            <a:ext cx="594360" cy="1143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51790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04104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Digital &amp; Online Channel Growth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04104" y="1554480"/>
            <a:ext cx="3474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already leads in revenue — invest in personalization, faster delivery, and exclusive online-only SKUs to widen the channel gap.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404872"/>
            <a:ext cx="4279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404872"/>
            <a:ext cx="594360" cy="11430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" y="275234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832" y="2468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Midwest with Focused Investment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2788920"/>
            <a:ext cx="3474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generates only $58M vs. West's $263M. Deploy region-specific promotions, open outlet locations, and leverage retailer partnerships.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90872" y="2404872"/>
            <a:ext cx="4279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404872"/>
            <a:ext cx="59436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275234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04104" y="2468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Q3 &amp; Summer Demand Peaks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04104" y="2788920"/>
            <a:ext cx="3474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inventory by May, run summer campaigns in June, and align supply chain to the highest-demand months (Jul–Aug) identified in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639312"/>
            <a:ext cx="4279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639312"/>
            <a:ext cx="594360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" y="398678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1832" y="3703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Retailer Exclusivity Strategy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1832" y="4023360"/>
            <a:ext cx="3474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retailers carry the same 6 products — creating exclusive SKUs per retailer will drive differentiation, loyalty, and incremental sell-through.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639312"/>
            <a:ext cx="42793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3639312"/>
            <a:ext cx="594360" cy="114300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98678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04104" y="3703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Underperforming Regional Retailers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04104" y="4023360"/>
            <a:ext cx="3474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has a bottom-ranked retailer. Conduct structured reviews to determine if performance gaps warrant renegotiation or restructuring.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the path forward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109728"/>
            <a:ext cx="10972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70432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4251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16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09344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$899.9M total revenue across 2020–2021 with 2.48M units sold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and Men's Street Footwear are the undisputed leaders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 outperforms all other sales methods in revenue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Summer/Q3 is peak demand season — key window for all initiatives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70432"/>
            <a:ext cx="42519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16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609344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$200M+ revenue gap between West and Midwest regions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differentiation gap creates immediate strategic opportunity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and channel data enables precise marketing budget allocation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 confirms no structural product inefficiencies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54680"/>
            <a:ext cx="868680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93592"/>
            <a:ext cx="8458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(0–30 days): Present recommendations to commercial and supply chain teams; finalize Q3 inventory plan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(30–60 days): Launch Midwest growth pilot and initiate retailer exclusivity discussions with top 3 partners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(60–90 days): Deploy digital-first campaign for Men's Street Footwear ahead of summer peak; measure MoM lift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73152" cy="51435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457200"/>
            <a:ext cx="256032" cy="4206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457200"/>
            <a:ext cx="256032" cy="4206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457200"/>
            <a:ext cx="256032" cy="4206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Project — 2020/2021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answer any questions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stakeholder team.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52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SQL Server · Tableau · Excel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10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Adidas US Retail Sales 2020–2021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Executive Analytics Deck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US Sales Analysis  |  Data &amp; Analytics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910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Adidas US Sales Analysis</dc:title>
  <dc:subject>PptxGenJS Presentation</dc:subject>
  <dc:creator>PptxGenJS</dc:creator>
  <cp:lastModifiedBy>PptxGenJS</cp:lastModifiedBy>
  <cp:revision>1</cp:revision>
  <dcterms:created xsi:type="dcterms:W3CDTF">2026-03-27T19:54:36Z</dcterms:created>
  <dcterms:modified xsi:type="dcterms:W3CDTF">2026-03-27T19:54:36Z</dcterms:modified>
</cp:coreProperties>
</file>